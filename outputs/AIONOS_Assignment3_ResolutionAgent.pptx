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300" b="1">
                <a:solidFill>
                  <a:srgbClr val="00B4D8"/>
                </a:solidFill>
              </a:defRPr>
            </a:pPr>
            <a:r>
              <a:t>AIONOS RECRUITMENT ASSIGNMENT 3 — SUBMISSION</a:t>
            </a:r>
          </a:p>
          <a:p>
            <a:pPr>
              <a:spcAft>
                <a:spcPts val="800"/>
              </a:spcAft>
              <a:defRPr sz="3600" b="1">
                <a:solidFill>
                  <a:srgbClr val="FFFFFF"/>
                </a:solidFill>
              </a:defRPr>
            </a:pPr>
            <a:r>
              <a:t>Customer-Facing Resolution Agent</a:t>
            </a:r>
          </a:p>
          <a:p>
            <a:pPr>
              <a:spcAft>
                <a:spcPts val="2400"/>
              </a:spcAft>
              <a:defRPr sz="1800">
                <a:solidFill>
                  <a:srgbClr val="CBD5E1"/>
                </a:solidFill>
              </a:defRPr>
            </a:pPr>
            <a:r>
              <a:t>Airline Disruption Support: Policy-Grounded, Data-Driven Autonomous Resolution Architecture</a:t>
            </a:r>
          </a:p>
          <a:p>
            <a:pPr>
              <a:defRPr sz="1300">
                <a:solidFill>
                  <a:srgbClr val="00B4D8"/>
                </a:solidFill>
              </a:defRPr>
            </a:pPr>
            <a:r>
              <a:t>Role: AI Engineer Lead  |  Stack: Python, Streamlit, Modular Policy Engine, LLMProvider  |  Date: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B4D8"/>
                </a:solidFill>
              </a:defRPr>
            </a:pPr>
            <a:r>
              <a:t>AIONOS RECRUITMENT ASSIGNMENT 3 | AIRLINE DISRUPTION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192F"/>
                </a:solidFill>
              </a:defRPr>
            </a:pPr>
            <a:r>
              <a:t>Business Problem: High-Stakes Airline Disruption Resolution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291840" cy="4389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29260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A192F"/>
                </a:solidFill>
              </a:defRPr>
            </a:pPr>
            <a:r>
              <a:t>Operational Disruption Reality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Flight cancellations and multi-hour delays trigger sudden spikes in customer distress.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Emotional customers demand immediate financial answers (cash refunds, hotel rooms, cabin upgrades).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High agent turnover and cognitive overload cause inconsistent, erroneous resolutions.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291840" cy="4389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828800"/>
            <a:ext cx="29260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A192F"/>
                </a:solidFill>
              </a:defRPr>
            </a:pPr>
            <a:r>
              <a:t>The Automation Pitfall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Generic LLM chatbots hallucinate compensation, invent flight numbers, or make unauthorized promises.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Hardcoded chatbots break immediately when flight contexts or passenger tiers change.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Uncontrolled AI waivers create direct financial leakage and regulatory non-compliance.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82880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A192F"/>
                </a:solidFill>
              </a:defRPr>
            </a:pPr>
            <a:r>
              <a:t>Why Policy-Grounded AI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Combines empathetic natural language understanding with 100% deterministic rule enforcement.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Protects corporate liability by enforcing agent waiver limits (e.g. max ₹1,500).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Generates immutable, inspectable audit trails for every decision and external transaction.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B4D8"/>
                </a:solidFill>
              </a:defRPr>
            </a:pPr>
            <a:r>
              <a:t>AIONOS RECRUITMENT ASSIGNMENT 3 | AIRLINE DISRUPTION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192F"/>
                </a:solidFill>
              </a:defRPr>
            </a:pPr>
            <a:r>
              <a:t>Requirements &amp; Core Success Criteria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2103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754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A192F"/>
                </a:solidFill>
              </a:defRPr>
            </a:pPr>
            <a:r>
              <a:t>Perception &amp; Intent Recognition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Accurately extract intent (refund, rebooking, vouchers, hotel, upgrade).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Detect customer frustration and emotional cues without over-apologizing.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Ask only necessary questions when customer/booking context is missing.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2103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8463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A192F"/>
                </a:solidFill>
              </a:defRPr>
            </a:pPr>
            <a:r>
              <a:t>Zero-Hallucination Grounding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Evaluate customer entitlements against the official Data Pack only.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Strictly prohibit inventing flight numbers, inventory, or payment methods.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Explicitly separate customer data, bookings, service rules, and tone guidelines.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023360"/>
            <a:ext cx="5120640" cy="2194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20624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A192F"/>
                </a:solidFill>
              </a:defRPr>
            </a:pPr>
            <a:r>
              <a:t>Autonomous Tool Execution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Execute permitted actions: meal vouchers, lounge passes, transit hotel rooms.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Clearly tag simulated actions [SIMULATED] for external transparency.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Support priority rebooking for Gold and Platinum loyalty members.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4023360"/>
            <a:ext cx="5212080" cy="2194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420624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A192F"/>
                </a:solidFill>
              </a:defRPr>
            </a:pPr>
            <a:r>
              <a:t>Supervised Human Escalation &amp; Audit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Escalate legal threats, formal complaints, and fare differences &gt; ₹1,500.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Produce structured escalation records with specific recommended human actions.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Maintain real-time, inspectable audit logs for compliance review.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B4D8"/>
                </a:solidFill>
              </a:defRPr>
            </a:pPr>
            <a:r>
              <a:t>AIONOS RECRUITMENT ASSIGNMENT 3 | AIRLINE DISRUPTION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192F"/>
                </a:solidFill>
              </a:defRPr>
            </a:pPr>
            <a:r>
              <a:t>Data Sources, Segregation &amp; Operational Boundaries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291840" cy="4389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29260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A192F"/>
                </a:solidFill>
              </a:defRPr>
            </a:pPr>
            <a:r>
              <a:t>Decoupled Data Architecture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customers.json: Profiles, tiers (Gold, Silver, Platinum), travel history, prior complaints.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bookings.json: PNR, segments, cancellation/delay causes, payment instruments.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policies.json: Explicit disruption service rules, delay tiers (&lt;3h, 3-5h, &gt;5h), waiver ceilings.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actions.json: Strict whitelist of permitted agent actions vs. prohibited escalation triggers.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291840" cy="4389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828800"/>
            <a:ext cx="29260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A192F"/>
                </a:solidFill>
              </a:defRPr>
            </a:pPr>
            <a:r>
              <a:t>Source-of-Truth Enforcement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Single Source of Truth: Assignment 3 Data Pack PDF exclusively.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Zero Invented Flights: Flight inventory is not hallucinated; operational dispatch noted.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Zero Invented Policies: No ungrounded compensation, upgrade, or payment waivers.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Tone-Only Calibration: PDF sample conversations provide empathy style only, not customer facts.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82880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A192F"/>
                </a:solidFill>
              </a:defRPr>
            </a:pPr>
            <a:r>
              <a:t>Extensibility Proof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Completely data-driven: Adding Customer 4 ('Karan Roy', Bronze, PNR ZX9901) requires zero Python code edits.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Automated regression test tests/test_extensibility.py proves dynamic ingestion and policy execution.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Demonstrates enterprise-grade separation of data from runtime application logic.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B4D8"/>
                </a:solidFill>
              </a:defRPr>
            </a:pPr>
            <a:r>
              <a:t>AIONOS RECRUITMENT ASSIGNMENT 3 | AIRLINE DISRUPTION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192F"/>
                </a:solidFill>
              </a:defRPr>
            </a:pPr>
            <a:r>
              <a:t>System Architecture: Modular &amp; Safe Agent Pipeline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468880" cy="4389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21031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A192F"/>
                </a:solidFill>
              </a:defRPr>
            </a:pPr>
            <a:r>
              <a:t>1. Interface &amp; State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Streamlit UI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Multi-turn Dialogue State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Pre-Configured Scenarios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Custom PNR Lookup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Live Grounding Inspector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Audit Log Viewer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645920"/>
            <a:ext cx="2468880" cy="4389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0" y="1828800"/>
            <a:ext cx="21031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A192F"/>
                </a:solidFill>
              </a:defRPr>
            </a:pPr>
            <a:r>
              <a:t>2. Intent &amp; Perception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IntentAgent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Regex + Entity Extraction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Frustration Detector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Legal Threat Interceptor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Customer &amp; PNR Binding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DataService Retrieval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2468880" cy="4389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21031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A192F"/>
                </a:solidFill>
              </a:defRPr>
            </a:pPr>
            <a:r>
              <a:t>3. Policy &amp; Decision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Deterministic PolicyEngine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Delay Tier Thresholds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Cancellation vs Rebook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Waiver Ceiling ($1,500)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Loyalty Tier Gate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DecisionEngine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0" y="1645920"/>
            <a:ext cx="2468880" cy="4389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1828800"/>
            <a:ext cx="21031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A192F"/>
                </a:solidFill>
              </a:defRPr>
            </a:pPr>
            <a:r>
              <a:t>4. Execution &amp; Audit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Action Tools ([SIMULATED])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Escalation Dispatcher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ResponseAgent (LLM/Offline)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Source Citation Injector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Structured AuditLogger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JSON/SQLite Persistence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B4D8"/>
                </a:solidFill>
              </a:defRPr>
            </a:pPr>
            <a:r>
              <a:t>AIONOS RECRUITMENT ASSIGNMENT 3 | AIRLINE DISRUPTION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192F"/>
                </a:solidFill>
              </a:defRPr>
            </a:pPr>
            <a:r>
              <a:t>Agent Process Flow: 7-Stage Deterministic Pipeline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2103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754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A192F"/>
                </a:solidFill>
              </a:defRPr>
            </a:pPr>
            <a:r>
              <a:t>Stage 1 → 2: Message &amp; Entity Extraction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Customer message received; regex &amp; intent parser extract PNR, flight, amounts, and tone.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Critical check: Immediate short-circuit if legal action or formal complaint detected.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2103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8463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A192F"/>
                </a:solidFill>
              </a:defRPr>
            </a:pPr>
            <a:r>
              <a:t>Stage 3 → 4: Context Retrieval &amp; Policy Evaluation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DataService fetches customer profile (tier, history) and flight booking records.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Deterministic PolicyEngine checks entitlement rules against disruption type and hours.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023360"/>
            <a:ext cx="5120640" cy="2194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20624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A192F"/>
                </a:solidFill>
              </a:defRPr>
            </a:pPr>
            <a:r>
              <a:t>Stage 5: Autonomous Action or Escalation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If permitted: triggers generic simulated tools (meal voucher, lounge pass, delayed-hours hotel, refund).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If prohibited or beyond limit: constructs structured EscalationRecord for human supervisors.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4023360"/>
            <a:ext cx="5212080" cy="2194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420624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A192F"/>
                </a:solidFill>
              </a:defRPr>
            </a:pPr>
            <a:r>
              <a:t>Stage 6 → 7: Grounded Response &amp; Audit Logging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ResponseAgent drafts empathetic message citing exact Service Rules from Data Pack.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AuditLogger appends timestamped JSON audit record containing customer, intent, decision, and status.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B4D8"/>
                </a:solidFill>
              </a:defRPr>
            </a:pPr>
            <a:r>
              <a:t>AIONOS RECRUITMENT ASSIGNMENT 3 | AIRLINE DISRUPTION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192F"/>
                </a:solidFill>
              </a:defRPr>
            </a:pPr>
            <a:r>
              <a:t>Agent &amp; AI Design: Constrained LLM with Deterministic Engine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291840" cy="4389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29260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A192F"/>
                </a:solidFill>
              </a:defRPr>
            </a:pPr>
            <a:r>
              <a:t>Role of the LLM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Restricted strictly to linguistic phrasing, empathy, and conversational fluency.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NEVER acts as the authority for business policy or compensation entitlements.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Operates under a strict system prompt prohibiting invented flights, policies, or monetary amounts.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291840" cy="4389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828800"/>
            <a:ext cx="29260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A192F"/>
                </a:solidFill>
              </a:defRPr>
            </a:pPr>
            <a:r>
              <a:t>Deterministic Policy Engine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Pure Python rule evaluator guarantees zero hallucinated decisions.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Mathematically enforces delay thresholds: &lt;3h (meal), 3-5h (lounge), &gt;5h (delayed-hours hotel).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Enforces hard ceiling on agent fare waivers: strictly &lt;= ₹1,500.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82880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A192F"/>
                </a:solidFill>
              </a:defRPr>
            </a:pPr>
            <a:r>
              <a:t>LLM Provider Abstraction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Pluggable LLMProvider interface supports OpenAI, Anthropic, Gemini, or Groq.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Built-in DeterministicFallbackProvider guarantees 100% functionality offline without external API keys.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Fail-safe architecture protects operations against API latency, rate limits, or network downtime.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B4D8"/>
                </a:solidFill>
              </a:defRPr>
            </a:pPr>
            <a:r>
              <a:t>AIONOS RECRUITMENT ASSIGNMENT 3 | AIRLINE DISRUPTION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192F"/>
                </a:solidFill>
              </a:defRPr>
            </a:pPr>
            <a:r>
              <a:t>Scenario Verification: 100% Policy-Driven Outcomes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291840" cy="4389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29260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A192F"/>
                </a:solidFill>
              </a:defRPr>
            </a:pPr>
            <a:r>
              <a:t>Scenario 1: Priya Nair (Gold)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Disruption: SK-204 Cancelled (Operational). Customer expresses fury, asks for full refund + business upgrade.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Policy Action: Free rebooking (priority tier) OR full refund approved to original payment within 7 days.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Boundary Enforced: Cabin upgrade rejected &amp; escalated; Gold tier gives priority rebooking only, not free upgrades.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291840" cy="4389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828800"/>
            <a:ext cx="29260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A192F"/>
                </a:solidFill>
              </a:defRPr>
            </a:pPr>
            <a:r>
              <a:t>Scenario 2: Arvind Kulkarni (Silver)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Disruption: SK-118 Delayed 4 hours. Customer frustrated over missed meeting, demands hotel room.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Policy Action: ₹500 meal voucher issued + airport lounge access pass activated.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Boundary Enforced: Hotel accommodation declined based on policy (&gt;5 hours required). Policy citation provided.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82880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A192F"/>
                </a:solidFill>
              </a:defRPr>
            </a:pPr>
            <a:r>
              <a:t>Scenario 3: Meher Kaur (Platinum)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Disruption: SK-305 Delayed 6h. Demands full-night hotel stay + higher-fare flight (₹2,000 difference).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Policy Action: Meal voucher, lounge pass, and hotel for delayed hours (transit room) approved.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Boundary Enforced: Full-night stay declined; ₹2,000 fare waiver exceeds ₹1,500 limit → Escalated to supervisor.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B4D8"/>
                </a:solidFill>
              </a:defRPr>
            </a:pPr>
            <a:r>
              <a:t>AIONOS RECRUITMENT ASSIGNMENT 3 | AIRLINE DISRUPTION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192F"/>
                </a:solidFill>
              </a:defRPr>
            </a:pPr>
            <a:r>
              <a:t>Safety, Compliance Guardrails &amp; Transparent Auditability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291840" cy="4389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29260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A192F"/>
                </a:solidFill>
              </a:defRPr>
            </a:pPr>
            <a:r>
              <a:t>Operational Guardrails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Zero Flight Hallucination: Rebooking explains priority queue; actual flight assignment awaits operational inventory.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Payment Integrity: Refunds strictly locked to original payment instrument (no third-party card switches).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Legal Threat Interception: Lawsuit/formal threats immediately escalated to Specialist Support.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291840" cy="4389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828800"/>
            <a:ext cx="29260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A192F"/>
                </a:solidFill>
              </a:defRPr>
            </a:pPr>
            <a:r>
              <a:t>Structured Escalation Dossier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Captures Customer Name, PNR, Issue, Requested Action, and Policy Limitation.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Explicitly states Reason for Escalation and Recommended Human Action for specialist review.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Creates clean operational handoffs between AI and human operations teams.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82880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A192F"/>
                </a:solidFill>
              </a:defRPr>
            </a:pPr>
            <a:r>
              <a:t>Immutable Audit Trail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Every turn logs: timestamp, conversation_id, customer, PNR, intent, policy used, actions executed, status.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Persisted to structured JSON log (data/audit_log.json) with interactive UI inspector.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Zero secrets committed: environment variables managed via .env.example.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B4D8"/>
                </a:solidFill>
              </a:defRPr>
            </a:pPr>
            <a:r>
              <a:t>AIONOS RECRUITMENT ASSIGNMENT 3 | AIRLINE DISRUPTION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192F"/>
                </a:solidFill>
              </a:defRPr>
            </a:pPr>
            <a:r>
              <a:t>Deployment Architecture &amp; Production Roadmap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291840" cy="4389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29260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A192F"/>
                </a:solidFill>
              </a:defRPr>
            </a:pPr>
            <a:r>
              <a:t>Deployment Readiness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Turnkey Local Run: streamlit run app.py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100% Automated Test Pass: pytest tests/ -v (17 automated policy, scenario, &amp; security tests pass in 0.22s).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Containerized: Dockerfile and docker-compose.yml ready for cloud deployment (AWS ECS, GCP Cloud Run, Streamlit Cloud).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291840" cy="4389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828800"/>
            <a:ext cx="29260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A192F"/>
                </a:solidFill>
              </a:defRPr>
            </a:pPr>
            <a:r>
              <a:t>Current Scope &amp; Boundaries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Data scope strictly derived from Assignment 3 Data Pack PDF.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Simulated action tools clearly labeled to prevent mock transaction confusion.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Deterministic fallback ensures complete presentation usability without paid LLM API keys.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82880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A192F"/>
                </a:solidFill>
              </a:defRPr>
            </a:pPr>
            <a:r>
              <a:t>Production Roadmap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GDS / PSS Integration: Live Amadeus/Sabre API connectors for real-time flight inventory and seat booking.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Payment Gateway API: Automated webhook integration for instantaneous merchant refund triggers.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Human-in-the-Loop CRM: Direct Zendesk/Salesforce Service Cloud webhook integration for supervisor escalation queues.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